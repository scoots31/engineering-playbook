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029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AI BUILD MINDSET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From How We Work </a:t>
            </a:r>
            <a:r>
              <a:rPr sz="4400" b="1">
                <a:solidFill>
                  <a:srgbClr val="60A5FA"/>
                </a:solidFill>
                <a:latin typeface="Calibri"/>
              </a:rPr>
              <a:t>Today</a:t>
            </a:r>
            <a:r>
              <a:rPr sz="4400" b="1">
                <a:solidFill>
                  <a:srgbClr val="FFFFFF"/>
                </a:solidFill>
                <a:latin typeface="Calibri"/>
              </a:rPr>
              <a:t> to How We Build </a:t>
            </a:r>
            <a:r>
              <a:rPr sz="4400" b="1">
                <a:solidFill>
                  <a:srgbClr val="60A5FA"/>
                </a:solidFill>
                <a:latin typeface="Calibri"/>
              </a:rPr>
              <a:t>Tomorrow</a:t>
            </a:r>
          </a:p>
          <a:p>
            <a:pPr>
              <a:spcAft>
                <a:spcPts val="18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A framework approach for enabling the AI Build Mindset — built on the discipline that already makes our teams effective.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160520"/>
            <a:ext cx="5943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WHERE WE START</a:t>
            </a:r>
          </a:p>
          <a:p>
            <a:pPr>
              <a:spcAft>
                <a:spcPts val="1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Great products come from great team discipline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5257800" cy="141732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920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Product Manager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Defines the problem. Challenges assumptions. Holds the "why" before a line of code is 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691640"/>
            <a:ext cx="5257800" cy="141732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8920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Tech Lead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Validates buildability. Sequences work by risk. Prevents the expensive wrong turns.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29000"/>
            <a:ext cx="5257800" cy="141732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48920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Designer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Produces the shared artifact everyone points at. Surfaces data, flow, and scope questions before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429000"/>
            <a:ext cx="5257800" cy="141732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566160"/>
            <a:ext cx="48920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QA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Enforces the quality gate. Nothing ships without passing the bar — no exceptions.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9160"/>
            <a:ext cx="10241280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This team dynamic is what makes the difference between good product and shipping something that needs to be rebuilt. The discipline is the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515" y="0"/>
            <a:ext cx="5608180" cy="685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577675" cy="4754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THE SHIFT</a:t>
            </a:r>
          </a:p>
          <a:p>
            <a:pPr>
              <a:spcAft>
                <a:spcPts val="1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An AI Build Mindset is coming — the question is how it lands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AI tools are enabling individuals to build what previously required a full team. This is real, it is accelerating, and it creates a genuine opportunity for organizations that get the approach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435" y="868680"/>
            <a:ext cx="411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435" y="1143000"/>
            <a:ext cx="4693780" cy="5303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→  </a:t>
            </a:r>
            <a:r>
              <a:rPr sz="1200" b="0">
                <a:solidFill>
                  <a:srgbClr val="CBD5E1"/>
                </a:solidFill>
                <a:latin typeface="Calibri"/>
              </a:rPr>
              <a:t>Speed increases significantly — cycles that took weeks can take days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→  </a:t>
            </a:r>
            <a:r>
              <a:rPr sz="1200" b="0">
                <a:solidFill>
                  <a:srgbClr val="CBD5E1"/>
                </a:solidFill>
                <a:latin typeface="Calibri"/>
              </a:rPr>
              <a:t>The builder profile changes — domain experts can build without dedicated developers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→  </a:t>
            </a:r>
            <a:r>
              <a:rPr sz="1200" b="0">
                <a:solidFill>
                  <a:srgbClr val="CBD5E1"/>
                </a:solidFill>
                <a:latin typeface="Calibri"/>
              </a:rPr>
              <a:t>Output quality varies widely — without structure, results are inconsistent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→  </a:t>
            </a:r>
            <a:r>
              <a:rPr sz="1200" b="0">
                <a:solidFill>
                  <a:srgbClr val="CBD5E1"/>
                </a:solidFill>
                <a:latin typeface="Calibri"/>
              </a:rPr>
              <a:t>The discipline gap is the real risk — not the technology itself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943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THE REAL PROBLEM</a:t>
            </a:r>
          </a:p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When the team goes away, so does the discipline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No PM challenge — features get built without validating the problem first. Assumptions go unchecked.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No tech review — work gets sequenced by comfort, not by risk. Expensive wrong turns happen late.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No shared design artifact — everyone works from a description. Scope, data gaps, and flow issues surface in code.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No QA gate — "it works on my machine" replaces structured verification. Quality is inconsistent.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No process accountability — what was agreed in discovery gets quietly lost during build.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515" y="0"/>
            <a:ext cx="5608180" cy="6858000"/>
          </a:xfrm>
          <a:prstGeom prst="rect">
            <a:avLst/>
          </a:prstGeom>
          <a:solidFill>
            <a:srgbClr val="0A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669115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OUR APPROACH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if the framework </a:t>
            </a:r>
            <a:r>
              <a:rPr sz="2800" b="1">
                <a:solidFill>
                  <a:srgbClr val="2DD4BF"/>
                </a:solidFill>
                <a:latin typeface="Calibri"/>
              </a:rPr>
              <a:t>replaced the team?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The roles that make teams effective don't disappear — they get embedded in the framework. Every phase has specialist thinking. Every handoff has a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715" y="868680"/>
            <a:ext cx="411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4995" y="1097280"/>
            <a:ext cx="4785220" cy="5303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DD4BF"/>
                </a:solidFill>
                <a:latin typeface="Calibri"/>
              </a:rPr>
              <a:t>Team discipline → Framework skill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PM challenge → </a:t>
            </a:r>
            <a:r>
              <a:rPr sz="1100" b="1">
                <a:solidFill>
                  <a:srgbClr val="FFFFFF"/>
                </a:solidFill>
                <a:latin typeface="Calibri"/>
              </a:rPr>
              <a:t>discover · grill-me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Tech Lead review → </a:t>
            </a:r>
            <a:r>
              <a:rPr sz="1100" b="1">
                <a:solidFill>
                  <a:srgbClr val="FFFFFF"/>
                </a:solidFill>
                <a:latin typeface="Calibri"/>
              </a:rPr>
              <a:t>principal-engineer · prd-to-plan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Design review → </a:t>
            </a:r>
            <a:r>
              <a:rPr sz="1100" b="1">
                <a:solidFill>
                  <a:srgbClr val="FFFFFF"/>
                </a:solidFill>
                <a:latin typeface="Calibri"/>
              </a:rPr>
              <a:t>design-sprint · design-review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QA gate → </a:t>
            </a:r>
            <a:r>
              <a:rPr sz="1100" b="1">
                <a:solidFill>
                  <a:srgbClr val="FFFFFF"/>
                </a:solidFill>
                <a:latin typeface="Calibri"/>
              </a:rPr>
              <a:t>code-review · solo-qa · phase-test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Process mapping → </a:t>
            </a:r>
            <a:r>
              <a:rPr sz="1100" b="1">
                <a:solidFill>
                  <a:srgbClr val="FFFFFF"/>
                </a:solidFill>
                <a:latin typeface="Calibri"/>
              </a:rPr>
              <a:t>process-mapper (always-on)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Institutional memory → </a:t>
            </a:r>
            <a:r>
              <a:rPr sz="1100" b="1">
                <a:solidFill>
                  <a:srgbClr val="FFFFFF"/>
                </a:solidFill>
                <a:latin typeface="Calibri"/>
              </a:rPr>
              <a:t>product-continuity (always-on)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607040" cy="6035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THE BACKBONE</a:t>
            </a:r>
          </a:p>
          <a:p>
            <a:pPr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Process is the thread that runs through </a:t>
            </a:r>
            <a:r>
              <a:rPr sz="3000" b="1">
                <a:solidFill>
                  <a:srgbClr val="60A5FA"/>
                </a:solidFill>
                <a:latin typeface="Calibri"/>
              </a:rPr>
              <a:t>everything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CD34D"/>
                </a:solidFill>
                <a:latin typeface="Calibri"/>
              </a:rPr>
              <a:t>1  </a:t>
            </a:r>
            <a:r>
              <a:rPr sz="1200" b="0">
                <a:solidFill>
                  <a:srgbClr val="CBD5E1"/>
                </a:solidFill>
                <a:latin typeface="Calibri"/>
              </a:rPr>
              <a:t>Every project starts with a process conversation — how does this work today? What should it look like when we're done?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CD34D"/>
                </a:solidFill>
                <a:latin typeface="Calibri"/>
              </a:rPr>
              <a:t>2  </a:t>
            </a:r>
            <a:r>
              <a:rPr sz="1200" b="0">
                <a:solidFill>
                  <a:srgbClr val="CBD5E1"/>
                </a:solidFill>
                <a:latin typeface="Calibri"/>
              </a:rPr>
              <a:t>The to-be map becomes the contract — agreed before design begins, held as the accountability standard through build and testing.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CD34D"/>
                </a:solidFill>
                <a:latin typeface="Calibri"/>
              </a:rPr>
              <a:t>3  </a:t>
            </a:r>
            <a:r>
              <a:rPr sz="1200" b="0">
                <a:solidFill>
                  <a:srgbClr val="CBD5E1"/>
                </a:solidFill>
                <a:latin typeface="Calibri"/>
              </a:rPr>
              <a:t>Every feature slice maps to a process step — nothing gets built that can't be traced to an agreed process outcome.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CD34D"/>
                </a:solidFill>
                <a:latin typeface="Calibri"/>
              </a:rPr>
              <a:t>4  </a:t>
            </a:r>
            <a:r>
              <a:rPr sz="1200" b="0">
                <a:solidFill>
                  <a:srgbClr val="CBD5E1"/>
                </a:solidFill>
                <a:latin typeface="Calibri"/>
              </a:rPr>
              <a:t>Phase test validates process coverage — did we build what the process requires?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This is what your process mapping team does today. The framework brings it into every build,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END-TO-END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 complete lifecycle — from first idea to deployed and tested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Start › Brainstorm › Discover › Tech Context › Design Sprint › Design Review › Plan › Build › QA Chain › Phase Test ›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880360"/>
            <a:ext cx="2602153" cy="123444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2602153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24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Specialist skills covering the full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5113" y="2880360"/>
            <a:ext cx="2602153" cy="123444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5113" y="3017520"/>
            <a:ext cx="2602153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Always-on skills running without user invocation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4426" y="2880360"/>
            <a:ext cx="2602153" cy="123444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4426" y="3017520"/>
            <a:ext cx="2602153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Hard gates before code ships to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03739" y="2880360"/>
            <a:ext cx="2602153" cy="1234440"/>
          </a:xfrm>
          <a:prstGeom prst="rect">
            <a:avLst/>
          </a:prstGeom>
          <a:solidFill>
            <a:srgbClr val="182238"/>
          </a:solidFill>
          <a:ln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3739" y="3017520"/>
            <a:ext cx="2602153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7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Specialist lenses in the Phase Test alone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07040" cy="5852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3B82F6"/>
                </a:solidFill>
                <a:latin typeface="Calibri"/>
              </a:rPr>
              <a:t>FAMILIAR BY DESIGN</a:t>
            </a:r>
          </a:p>
          <a:p>
            <a:pPr>
              <a:spcAft>
                <a:spcPts val="1200"/>
              </a:spcAft>
            </a:pPr>
            <a:r>
              <a:rPr sz="2800" b="1">
                <a:solidFill>
                  <a:srgbClr val="0F1729"/>
                </a:solidFill>
                <a:latin typeface="Calibri"/>
              </a:rPr>
              <a:t>This isn't new behavior. It's familiar discipline in a new form.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✓  </a:t>
            </a:r>
            <a:r>
              <a:rPr sz="1200" b="1">
                <a:solidFill>
                  <a:srgbClr val="0F1729"/>
                </a:solidFill>
                <a:latin typeface="Calibri"/>
              </a:rPr>
              <a:t>Process maps — </a:t>
            </a:r>
            <a:r>
              <a:rPr sz="1200" b="0">
                <a:solidFill>
                  <a:srgbClr val="374151"/>
                </a:solidFill>
                <a:latin typeface="Calibri"/>
              </a:rPr>
              <a:t>your team already does this. The framework formalizes as-is and to-be maps in every project.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✓  </a:t>
            </a:r>
            <a:r>
              <a:rPr sz="1200" b="1">
                <a:solidFill>
                  <a:srgbClr val="0F1729"/>
                </a:solidFill>
                <a:latin typeface="Calibri"/>
              </a:rPr>
              <a:t>PM, Tech Lead, Designer, QA roles — </a:t>
            </a:r>
            <a:r>
              <a:rPr sz="1200" b="0">
                <a:solidFill>
                  <a:srgbClr val="374151"/>
                </a:solidFill>
                <a:latin typeface="Calibri"/>
              </a:rPr>
              <a:t>these exist in the framework as specialist skills.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✓  </a:t>
            </a:r>
            <a:r>
              <a:rPr sz="1200" b="1">
                <a:solidFill>
                  <a:srgbClr val="0F1729"/>
                </a:solidFill>
                <a:latin typeface="Calibri"/>
              </a:rPr>
              <a:t>Review gates — </a:t>
            </a:r>
            <a:r>
              <a:rPr sz="1200" b="0">
                <a:solidFill>
                  <a:srgbClr val="374151"/>
                </a:solidFill>
                <a:latin typeface="Calibri"/>
              </a:rPr>
              <a:t>nothing advances without passing the gate.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✓  </a:t>
            </a:r>
            <a:r>
              <a:rPr sz="1200" b="1">
                <a:solidFill>
                  <a:srgbClr val="0F1729"/>
                </a:solidFill>
                <a:latin typeface="Calibri"/>
              </a:rPr>
              <a:t>Institutional memory — </a:t>
            </a:r>
            <a:r>
              <a:rPr sz="1200" b="0">
                <a:solidFill>
                  <a:srgbClr val="374151"/>
                </a:solidFill>
                <a:latin typeface="Calibri"/>
              </a:rPr>
              <a:t>decisions, assumptions, risks, and changes are captured continuously.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✓  </a:t>
            </a:r>
            <a:r>
              <a:rPr sz="1200" b="1">
                <a:solidFill>
                  <a:srgbClr val="0F1729"/>
                </a:solidFill>
                <a:latin typeface="Calibri"/>
              </a:rPr>
              <a:t>Continuous improvement — </a:t>
            </a:r>
            <a:r>
              <a:rPr sz="1200" b="0">
                <a:solidFill>
                  <a:srgbClr val="374151"/>
                </a:solidFill>
                <a:latin typeface="Calibri"/>
              </a:rPr>
              <a:t>the retrospective skill feeds improvements back into the framework.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035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FACTUAL DIFFERENTIATION</a:t>
            </a:r>
          </a:p>
          <a:p>
            <a:pPr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makes this framework different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Process-first, not code-first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Every project starts with a process conversation, not a prompt.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Full lifecycle coverage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From idea through deployed and verified — not just a coding assistant.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Team discipline without a team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PM, Tech Lead, Designer, QA, and Process Mapper roles are embedded as skills.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Self-improving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The retrospective skill captures what works from real usage.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Tool-agnostic &amp; collaborative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Built to work with Claude Code and Cursor on the same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6070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WHERE TO START</a:t>
            </a:r>
          </a:p>
          <a:p>
            <a:pPr>
              <a:spcAft>
                <a:spcPts val="1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 pilot approach — one project, one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5250027" cy="132588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4929987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0A5FA"/>
                </a:solidFill>
                <a:latin typeface="Calibri"/>
              </a:rPr>
              <a:t>STEP 1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Select the right first project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A real project with a real process behind it — not a toy.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5867" y="1417320"/>
            <a:ext cx="5250027" cy="132588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8747" y="1527048"/>
            <a:ext cx="4929987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0A5FA"/>
                </a:solidFill>
                <a:latin typeface="Calibri"/>
              </a:rPr>
              <a:t>STEP 2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Run Discover and Design Sprint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Does the framework produce a process map and a visual artifact the team recognizes?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26080"/>
            <a:ext cx="5250027" cy="132588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35808"/>
            <a:ext cx="4929987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0A5FA"/>
                </a:solidFill>
                <a:latin typeface="Calibri"/>
              </a:rPr>
              <a:t>STEP 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Build through the QA chain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Run build → code review → QA on at least one phase.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2926080"/>
            <a:ext cx="5250027" cy="132588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3035808"/>
            <a:ext cx="4929987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0A5FA"/>
                </a:solidFill>
                <a:latin typeface="Calibri"/>
              </a:rPr>
              <a:t>STEP 4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Evaluate and iterate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Use retrospective output to refine the framework for your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1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The discipline doesn't have to leave
when the </a:t>
            </a:r>
            <a:r>
              <a:rPr sz="3600" b="1">
                <a:solidFill>
                  <a:srgbClr val="60A5FA"/>
                </a:solidFill>
                <a:latin typeface="Calibri"/>
              </a:rPr>
              <a:t>team evolves.</a:t>
            </a:r>
          </a:p>
          <a:p>
            <a:pPr algn="ctr">
              <a:spcAft>
                <a:spcPts val="18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We built a framework that carries the judgment, the gates, and the process accountability of a great team into an AI Build Mindset — without rebuilding from scratch what already 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4892040"/>
            <a:ext cx="1691640" cy="384048"/>
          </a:xfrm>
          <a:prstGeom prst="rect">
            <a:avLst/>
          </a:prstGeom>
          <a:solidFill>
            <a:srgbClr val="222E4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4919472"/>
            <a:ext cx="16916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24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79" y="4892040"/>
            <a:ext cx="1691640" cy="384048"/>
          </a:xfrm>
          <a:prstGeom prst="rect">
            <a:avLst/>
          </a:prstGeom>
          <a:solidFill>
            <a:srgbClr val="222E4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79" y="4919472"/>
            <a:ext cx="16916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Full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598" y="4892040"/>
            <a:ext cx="1691640" cy="384048"/>
          </a:xfrm>
          <a:prstGeom prst="rect">
            <a:avLst/>
          </a:prstGeom>
          <a:solidFill>
            <a:srgbClr val="222E4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8" y="4919472"/>
            <a:ext cx="16916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Process-First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17" y="4892040"/>
            <a:ext cx="1691640" cy="384048"/>
          </a:xfrm>
          <a:prstGeom prst="rect">
            <a:avLst/>
          </a:prstGeom>
          <a:solidFill>
            <a:srgbClr val="222E4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7" y="4919472"/>
            <a:ext cx="16916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Tool-Agnostic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