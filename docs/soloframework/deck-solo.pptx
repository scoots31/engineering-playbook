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10515600" cy="5029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60A5FA"/>
                </a:solidFill>
                <a:latin typeface="Calibri"/>
              </a:rPr>
              <a:t>SOLO BUILDER FRAMEWORK</a:t>
            </a:r>
          </a:p>
          <a:p>
            <a:pPr>
              <a:spcAft>
                <a:spcPts val="1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Team discipline.
</a:t>
            </a:r>
            <a:r>
              <a:rPr sz="4400" b="1">
                <a:solidFill>
                  <a:srgbClr val="60A5FA"/>
                </a:solidFill>
                <a:latin typeface="Calibri"/>
              </a:rPr>
              <a:t>Without the team.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Calibri"/>
              </a:rPr>
              <a:t>A complete lifecycle framework for building software solo with AI — from first idea through deployed and tested.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4160520"/>
            <a:ext cx="5943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5943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0A5FA"/>
                </a:solidFill>
                <a:latin typeface="Calibri"/>
              </a:rPr>
              <a:t>THE PROBLEM</a:t>
            </a:r>
          </a:p>
          <a:p>
            <a:pPr>
              <a:spcAft>
                <a:spcPts val="1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Solo builders using AI </a:t>
            </a:r>
            <a:r>
              <a:rPr sz="3000" b="1">
                <a:solidFill>
                  <a:srgbClr val="FCD34D"/>
                </a:solidFill>
                <a:latin typeface="Calibri"/>
              </a:rPr>
              <a:t>drift toward waterfall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✕  </a:t>
            </a:r>
            <a:r>
              <a:rPr sz="1200" b="0">
                <a:solidFill>
                  <a:srgbClr val="CBD5E1"/>
                </a:solidFill>
                <a:latin typeface="Calibri"/>
              </a:rPr>
              <a:t>No external forcing function — no standup, no sprint review, no teammate waiting.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✕  </a:t>
            </a:r>
            <a:r>
              <a:rPr sz="1200" b="0">
                <a:solidFill>
                  <a:srgbClr val="CBD5E1"/>
                </a:solidFill>
                <a:latin typeface="Calibri"/>
              </a:rPr>
              <a:t>AI defaults to building what you describe — not challenging whether you're ready to build it.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✕  </a:t>
            </a:r>
            <a:r>
              <a:rPr sz="1200" b="0">
                <a:solidFill>
                  <a:srgbClr val="CBD5E1"/>
                </a:solidFill>
                <a:latin typeface="Calibri"/>
              </a:rPr>
              <a:t>No shared artifact before code starts — scope, data gaps, and flow issues surface in code.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87171"/>
                </a:solidFill>
                <a:latin typeface="Calibri"/>
              </a:rPr>
              <a:t>✕  </a:t>
            </a:r>
            <a:r>
              <a:rPr sz="1200" b="0">
                <a:solidFill>
                  <a:srgbClr val="CBD5E1"/>
                </a:solidFill>
                <a:latin typeface="Calibri"/>
              </a:rPr>
              <a:t>Quality gates disappear — "it works" becomes the bar. What ships is inconsistent.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Replace "phase complete" with "enough to learn from." The framework provides the forcing functions a team would provide.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607040" cy="960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0A5FA"/>
                </a:solidFill>
                <a:latin typeface="Calibri"/>
              </a:rPr>
              <a:t>WHERE YOU START</a:t>
            </a:r>
          </a:p>
          <a:p>
            <a:pPr>
              <a:spcAft>
                <a:spcPts val="12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Two entry points — the framework routes for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5250027" cy="2148840"/>
          </a:xfrm>
          <a:prstGeom prst="rect">
            <a:avLst/>
          </a:prstGeom>
          <a:solidFill>
            <a:srgbClr val="182238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490472"/>
            <a:ext cx="4884267" cy="1874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0A5FA"/>
                </a:solidFill>
                <a:latin typeface="Calibri"/>
              </a:rPr>
              <a:t>ENTRY 1 — You know what you want to build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The idea is clear. Skip brainstorming — go straight to Discover.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Signals: specific solution, clear user, defined outcome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55867" y="1325880"/>
            <a:ext cx="5250027" cy="2148840"/>
          </a:xfrm>
          <a:prstGeom prst="rect">
            <a:avLst/>
          </a:prstGeom>
          <a:solidFill>
            <a:srgbClr val="182238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57035" y="1490472"/>
            <a:ext cx="4884267" cy="1874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CD34D"/>
                </a:solidFill>
                <a:latin typeface="Calibri"/>
              </a:rPr>
              <a:t>ENTRY 2 — You're working through an idea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Brainstorming gives the idea something concrete to react to.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CBD5E1"/>
                </a:solidFill>
                <a:latin typeface="Calibri"/>
              </a:rPr>
              <a:t>Signals: exploratory tone, uncertain scope or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03320"/>
            <a:ext cx="105156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The start skill reads your opening message and routes automatically — both paths converge at Discover.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6217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0A5FA"/>
                </a:solidFill>
                <a:latin typeface="Calibri"/>
              </a:rPr>
              <a:t>THE FULL LIFECYCLE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Every phase has a purpose, an output, and a gate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Brainstorm › Discover › Tech Context › Design Sprint › Design Review › Plan › Build › QA Chain › Phase Test › Deploy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0A5FA"/>
                </a:solidFill>
                <a:latin typeface="Calibri"/>
              </a:rPr>
              <a:t>→  </a:t>
            </a:r>
            <a:r>
              <a:rPr sz="1200" b="1">
                <a:solidFill>
                  <a:srgbClr val="FFFFFF"/>
                </a:solidFill>
                <a:latin typeface="Calibri"/>
              </a:rPr>
              <a:t>You bring: </a:t>
            </a:r>
            <a:r>
              <a:rPr sz="1200" b="0">
                <a:solidFill>
                  <a:srgbClr val="CBD5E1"/>
                </a:solidFill>
                <a:latin typeface="Calibri"/>
              </a:rPr>
              <a:t>the idea, domain knowledge, warmer/colder judgment, and final decisions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DD4BF"/>
                </a:solidFill>
                <a:latin typeface="Calibri"/>
              </a:rPr>
              <a:t>→  </a:t>
            </a:r>
            <a:r>
              <a:rPr sz="1200" b="1">
                <a:solidFill>
                  <a:srgbClr val="FFFFFF"/>
                </a:solidFill>
                <a:latin typeface="Calibri"/>
              </a:rPr>
              <a:t>The framework brings: </a:t>
            </a:r>
            <a:r>
              <a:rPr sz="1200" b="0">
                <a:solidFill>
                  <a:srgbClr val="CBD5E1"/>
                </a:solidFill>
                <a:latin typeface="Calibri"/>
              </a:rPr>
              <a:t>specialist thinking, design execution, quality gates, process accountability, memory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FCD34D"/>
                </a:solidFill>
                <a:latin typeface="Calibri"/>
              </a:rPr>
              <a:t>→  </a:t>
            </a:r>
            <a:r>
              <a:rPr sz="1200" b="1">
                <a:solidFill>
                  <a:srgbClr val="FFFFFF"/>
                </a:solidFill>
                <a:latin typeface="Calibri"/>
              </a:rPr>
              <a:t>Gates stop advancement </a:t>
            </a:r>
            <a:r>
              <a:rPr sz="1200" b="0">
                <a:solidFill>
                  <a:srgbClr val="CBD5E1"/>
                </a:solidFill>
                <a:latin typeface="Calibri"/>
              </a:rPr>
              <a:t>until conditions are met — to-be map agreed, Ready slices, phase test OPEN before deploy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607040" cy="1005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ALWAYS-ON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Four skills that run the entire time — </a:t>
            </a:r>
            <a:r>
              <a:rPr sz="2600" b="1">
                <a:solidFill>
                  <a:srgbClr val="FCD34D"/>
                </a:solidFill>
                <a:latin typeface="Calibri"/>
              </a:rPr>
              <a:t>never invoked by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5250027" cy="1417320"/>
          </a:xfrm>
          <a:prstGeom prst="rect">
            <a:avLst/>
          </a:prstGeom>
          <a:solidFill>
            <a:srgbClr val="182238"/>
          </a:solidFill>
          <a:ln>
            <a:solidFill>
              <a:srgbClr val="40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35608"/>
            <a:ext cx="4929987" cy="1234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0A5FA"/>
                </a:solidFill>
                <a:latin typeface="Calibri"/>
              </a:rPr>
              <a:t>process-mapper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Process accountability — as-is / to-be maps; to-be is the contract.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55867" y="1325880"/>
            <a:ext cx="5250027" cy="1417320"/>
          </a:xfrm>
          <a:prstGeom prst="rect">
            <a:avLst/>
          </a:prstGeom>
          <a:solidFill>
            <a:srgbClr val="182238"/>
          </a:solidFill>
          <a:ln>
            <a:solidFill>
              <a:srgbClr val="40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38747" y="1435608"/>
            <a:ext cx="4929987" cy="1234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product-continuity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Institutional memory — decisions, risks, glossary across sessions.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944368"/>
            <a:ext cx="5250027" cy="1417320"/>
          </a:xfrm>
          <a:prstGeom prst="rect">
            <a:avLst/>
          </a:prstGeom>
          <a:solidFill>
            <a:srgbClr val="182238"/>
          </a:solidFill>
          <a:ln>
            <a:solidFill>
              <a:srgbClr val="40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54096"/>
            <a:ext cx="4929987" cy="1234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CD34D"/>
                </a:solidFill>
                <a:latin typeface="Calibri"/>
              </a:rPr>
              <a:t>framework-health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Background monitor — surfaces one issue at a time; never blocks.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2944368"/>
            <a:ext cx="5250027" cy="1417320"/>
          </a:xfrm>
          <a:prstGeom prst="rect">
            <a:avLst/>
          </a:prstGeom>
          <a:solidFill>
            <a:srgbClr val="182238"/>
          </a:solidFill>
          <a:ln>
            <a:solidFill>
              <a:srgbClr val="40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8747" y="3054096"/>
            <a:ext cx="4929987" cy="1234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A78BFA"/>
                </a:solidFill>
                <a:latin typeface="Calibri"/>
              </a:rPr>
              <a:t>retrospective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Continuous learning — flags in the moment, processes at phase 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515" y="0"/>
            <a:ext cx="5608180" cy="6858000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5669115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0A5FA"/>
                </a:solidFill>
                <a:latin typeface="Calibri"/>
              </a:rPr>
              <a:t>PHASE 2</a:t>
            </a:r>
          </a:p>
          <a:p>
            <a:pPr>
              <a:spcAft>
                <a:spcPts val="8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design artifact is the </a:t>
            </a:r>
            <a:r>
              <a:rPr sz="2600" b="1">
                <a:solidFill>
                  <a:srgbClr val="60A5FA"/>
                </a:solidFill>
                <a:latin typeface="Calibri"/>
              </a:rPr>
              <a:t>Rosetta Stone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Design Sprint produces an HTML artifact — interactive, good enough to decide from. It surfaces data questions, process gaps, scope decisions, and implied infrastructure.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435" y="868680"/>
            <a:ext cx="4114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715" y="1097280"/>
            <a:ext cx="4739500" cy="5303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60A5FA"/>
                </a:solidFill>
                <a:latin typeface="Calibri"/>
              </a:rPr>
              <a:t>•  </a:t>
            </a:r>
            <a:r>
              <a:rPr sz="1200" b="0">
                <a:solidFill>
                  <a:srgbClr val="CBD5E1"/>
                </a:solidFill>
                <a:latin typeface="Calibri"/>
              </a:rPr>
              <a:t>Data questions — where does each field come from?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60A5FA"/>
                </a:solidFill>
                <a:latin typeface="Calibri"/>
              </a:rPr>
              <a:t>•  </a:t>
            </a:r>
            <a:r>
              <a:rPr sz="1200" b="0">
                <a:solidFill>
                  <a:srgbClr val="CBD5E1"/>
                </a:solidFill>
                <a:latin typeface="Calibri"/>
              </a:rPr>
              <a:t>Process gaps — missing steps and handoffs surface in flow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60A5FA"/>
                </a:solidFill>
                <a:latin typeface="Calibri"/>
              </a:rPr>
              <a:t>•  </a:t>
            </a:r>
            <a:r>
              <a:rPr sz="1200" b="0">
                <a:solidFill>
                  <a:srgbClr val="CBD5E1"/>
                </a:solidFill>
                <a:latin typeface="Calibri"/>
              </a:rPr>
              <a:t>Scope decisions — every element is build/defer explicitly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60A5FA"/>
                </a:solidFill>
                <a:latin typeface="Calibri"/>
              </a:rPr>
              <a:t>•  </a:t>
            </a:r>
            <a:r>
              <a:rPr sz="1200" b="0">
                <a:solidFill>
                  <a:srgbClr val="CBD5E1"/>
                </a:solidFill>
                <a:latin typeface="Calibri"/>
              </a:rPr>
              <a:t>Implied infrastructure — toggles may hide pipelines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60704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2DD4BF"/>
                </a:solidFill>
                <a:latin typeface="Calibri"/>
              </a:rPr>
              <a:t>PHASE 4 — BUILD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No slice starts without </a:t>
            </a:r>
            <a:r>
              <a:rPr sz="2800" b="1">
                <a:solidFill>
                  <a:srgbClr val="2DD4BF"/>
                </a:solidFill>
                <a:latin typeface="Calibri"/>
              </a:rPr>
              <a:t>four anchors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5250027" cy="1261872"/>
          </a:xfrm>
          <a:prstGeom prst="rect">
            <a:avLst/>
          </a:prstGeom>
          <a:solidFill>
            <a:srgbClr val="182238"/>
          </a:solidFill>
          <a:ln>
            <a:solidFill>
              <a:srgbClr val="40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35608"/>
            <a:ext cx="4929987" cy="10789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0A5FA"/>
                </a:solidFill>
                <a:latin typeface="Calibri"/>
              </a:rPr>
              <a:t>Design Anchor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Exact screen/element from the design sprint.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55867" y="1325880"/>
            <a:ext cx="5250027" cy="1261872"/>
          </a:xfrm>
          <a:prstGeom prst="rect">
            <a:avLst/>
          </a:prstGeom>
          <a:solidFill>
            <a:srgbClr val="182238"/>
          </a:solidFill>
          <a:ln>
            <a:solidFill>
              <a:srgbClr val="40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38747" y="1435608"/>
            <a:ext cx="4929987" cy="10789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DD4BF"/>
                </a:solidFill>
                <a:latin typeface="Calibri"/>
              </a:rPr>
              <a:t>Data Anchor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Mock data fields; data-scaffold generates realistic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770632"/>
            <a:ext cx="5250027" cy="1261872"/>
          </a:xfrm>
          <a:prstGeom prst="rect">
            <a:avLst/>
          </a:prstGeom>
          <a:solidFill>
            <a:srgbClr val="182238"/>
          </a:solidFill>
          <a:ln>
            <a:solidFill>
              <a:srgbClr val="40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4929987" cy="10789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CD34D"/>
                </a:solidFill>
                <a:latin typeface="Calibri"/>
              </a:rPr>
              <a:t>Done Anchor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2–3 verifiable criteria — specific, checkable statements.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5867" y="2770632"/>
            <a:ext cx="5250027" cy="1261872"/>
          </a:xfrm>
          <a:prstGeom prst="rect">
            <a:avLst/>
          </a:prstGeom>
          <a:solidFill>
            <a:srgbClr val="182238"/>
          </a:solidFill>
          <a:ln>
            <a:solidFill>
              <a:srgbClr val="40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8747" y="2880360"/>
            <a:ext cx="4929987" cy="10789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A78BFA"/>
                </a:solidFill>
                <a:latin typeface="Calibri"/>
              </a:rPr>
              <a:t>Process Anchor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Which to-be process step this slice implements.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617720"/>
            <a:ext cx="1024128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If a slice has no process anchor, the framework stops and asks whether you're building outside the agreed process.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1828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2DD4BF"/>
                </a:solidFill>
                <a:latin typeface="Calibri"/>
              </a:rPr>
              <a:t>AUTOMATIC QA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Code-complete triggers a </a:t>
            </a:r>
            <a:r>
              <a:rPr sz="2600" b="1">
                <a:solidFill>
                  <a:srgbClr val="2DD4BF"/>
                </a:solidFill>
                <a:latin typeface="Calibri"/>
              </a:rPr>
              <a:t>three-skill QA 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3454298" cy="2331720"/>
          </a:xfrm>
          <a:prstGeom prst="rect">
            <a:avLst/>
          </a:prstGeom>
          <a:solidFill>
            <a:srgbClr val="182238"/>
          </a:solidFill>
          <a:ln>
            <a:solidFill>
              <a:srgbClr val="40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35608"/>
            <a:ext cx="3198266" cy="2148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code-review-and-quality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7 checks on patterns, data sourcing, scope, documentation — pass invokes solo-qa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58386" y="2286000"/>
            <a:ext cx="201168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60A5FA"/>
                </a:solidFill>
                <a:latin typeface="Calibri"/>
              </a:rPr>
              <a:t>›</a:t>
            </a:r>
          </a:p>
        </p:txBody>
      </p:sp>
      <p:sp>
        <p:nvSpPr>
          <p:cNvPr id="7" name="Rectangle 6"/>
          <p:cNvSpPr/>
          <p:nvPr/>
        </p:nvSpPr>
        <p:spPr>
          <a:xfrm>
            <a:off x="4368698" y="1325880"/>
            <a:ext cx="3454298" cy="2331720"/>
          </a:xfrm>
          <a:prstGeom prst="rect">
            <a:avLst/>
          </a:prstGeom>
          <a:solidFill>
            <a:srgbClr val="182238"/>
          </a:solidFill>
          <a:ln>
            <a:solidFill>
              <a:srgbClr val="40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5858" y="1435608"/>
            <a:ext cx="3198266" cy="2148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solo-qa Part 1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Active testing with evidence; cross-reference UI to mock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41284" y="2286000"/>
            <a:ext cx="201168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60A5FA"/>
                </a:solidFill>
                <a:latin typeface="Calibri"/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51596" y="1325880"/>
            <a:ext cx="3454298" cy="2331720"/>
          </a:xfrm>
          <a:prstGeom prst="rect">
            <a:avLst/>
          </a:prstGeom>
          <a:solidFill>
            <a:srgbClr val="182238"/>
          </a:solidFill>
          <a:ln>
            <a:solidFill>
              <a:srgbClr val="404A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8756" y="1435608"/>
            <a:ext cx="3198266" cy="21488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solo-qa Part 2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You sign off in the browser — visual, behavioral, done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10515600" cy="777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qa-triage classifies unexpected findings: bug / missing requirement / regression — then routes correctly.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515" y="0"/>
            <a:ext cx="5608180" cy="6858000"/>
          </a:xfrm>
          <a:prstGeom prst="rect">
            <a:avLst/>
          </a:prstGeom>
          <a:solidFill>
            <a:srgbClr val="3D2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5669115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THE BACKBONE</a:t>
            </a:r>
          </a:p>
          <a:p>
            <a:pPr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process thread runs from </a:t>
            </a:r>
            <a:r>
              <a:rPr sz="2600" b="1">
                <a:solidFill>
                  <a:srgbClr val="FCD34D"/>
                </a:solidFill>
                <a:latin typeface="Calibri"/>
              </a:rPr>
              <a:t>first conversation to final test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The to-be process map is the contract every downstream phase is held to — automatically.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086435" y="868680"/>
            <a:ext cx="4114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715" y="1051560"/>
            <a:ext cx="4739500" cy="5394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CD34D"/>
                </a:solidFill>
                <a:latin typeface="Calibri"/>
              </a:rPr>
              <a:t>1  </a:t>
            </a:r>
            <a:r>
              <a:rPr sz="1100" b="1">
                <a:solidFill>
                  <a:srgbClr val="FFFFFF"/>
                </a:solidFill>
                <a:latin typeface="Calibri"/>
              </a:rPr>
              <a:t>Discover: </a:t>
            </a:r>
            <a:r>
              <a:rPr sz="1100" b="0">
                <a:solidFill>
                  <a:srgbClr val="CBD5E1"/>
                </a:solidFill>
                <a:latin typeface="Calibri"/>
              </a:rPr>
              <a:t>As-is and to-be maps agreed. The to-be map is the contract.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CD34D"/>
                </a:solidFill>
                <a:latin typeface="Calibri"/>
              </a:rPr>
              <a:t>2  </a:t>
            </a:r>
            <a:r>
              <a:rPr sz="1100" b="1">
                <a:solidFill>
                  <a:srgbClr val="FFFFFF"/>
                </a:solidFill>
                <a:latin typeface="Calibri"/>
              </a:rPr>
              <a:t>Design Sprint: </a:t>
            </a:r>
            <a:r>
              <a:rPr sz="1100" b="0">
                <a:solidFill>
                  <a:srgbClr val="CBD5E1"/>
                </a:solidFill>
                <a:latin typeface="Calibri"/>
              </a:rPr>
              <a:t>Screens cross-referenced to the map; gaps become decisions.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CD34D"/>
                </a:solidFill>
                <a:latin typeface="Calibri"/>
              </a:rPr>
              <a:t>3  </a:t>
            </a:r>
            <a:r>
              <a:rPr sz="1100" b="1">
                <a:solidFill>
                  <a:srgbClr val="FFFFFF"/>
                </a:solidFill>
                <a:latin typeface="Calibri"/>
              </a:rPr>
              <a:t>Design Review: </a:t>
            </a:r>
            <a:r>
              <a:rPr sz="1100" b="0">
                <a:solidFill>
                  <a:srgbClr val="CBD5E1"/>
                </a:solidFill>
                <a:latin typeface="Calibri"/>
              </a:rPr>
              <a:t>Coverage each round; every slice gets a process anchor before Ready.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CD34D"/>
                </a:solidFill>
                <a:latin typeface="Calibri"/>
              </a:rPr>
              <a:t>4  </a:t>
            </a:r>
            <a:r>
              <a:rPr sz="1100" b="1">
                <a:solidFill>
                  <a:srgbClr val="FFFFFF"/>
                </a:solidFill>
                <a:latin typeface="Calibri"/>
              </a:rPr>
              <a:t>Build: </a:t>
            </a:r>
            <a:r>
              <a:rPr sz="1100" b="0">
                <a:solidFill>
                  <a:srgbClr val="CBD5E1"/>
                </a:solidFill>
                <a:latin typeface="Calibri"/>
              </a:rPr>
              <a:t>Process anchor required; stops if outside agreed process.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FCD34D"/>
                </a:solidFill>
                <a:latin typeface="Calibri"/>
              </a:rPr>
              <a:t>5  </a:t>
            </a:r>
            <a:r>
              <a:rPr sz="1100" b="1">
                <a:solidFill>
                  <a:srgbClr val="FFFFFF"/>
                </a:solidFill>
                <a:latin typeface="Calibri"/>
              </a:rPr>
              <a:t>Phase Test: </a:t>
            </a:r>
            <a:r>
              <a:rPr sz="1100" b="0">
                <a:solidFill>
                  <a:srgbClr val="CBD5E1"/>
                </a:solidFill>
                <a:latin typeface="Calibri"/>
              </a:rPr>
              <a:t>Use cases from the map — did we build what the process requires?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6217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A78BFA"/>
                </a:solidFill>
                <a:latin typeface="Calibri"/>
              </a:rPr>
              <a:t>PHASE 5 — EXPLICIT</a:t>
            </a:r>
          </a:p>
          <a:p>
            <a:pPr>
              <a:spcAft>
                <a:spcPts val="10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Phase Test: </a:t>
            </a:r>
            <a:r>
              <a:rPr sz="2800" b="1">
                <a:solidFill>
                  <a:srgbClr val="A78BFA"/>
                </a:solidFill>
                <a:latin typeface="Calibri"/>
              </a:rPr>
              <a:t>seven specialist lenses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Stage 1 — Environment readiness (mock inactive, slices deployed, clean load)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Stage 2 — Use case creator from discovery + to-be map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Stage 3 — Data specialist (mock→real, API verification)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Stage 4+5 — Tester + regression with named evidence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Stage 6 — Acceptance reviewer (PM lens on intent)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Calibri"/>
              </a:rPr>
              <a:t>Stage 7 — Gate decision: OPEN or HOLD with targeted re-test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Invoke /phase-test explicitly when the phase is built — deliberate, not automatic.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6035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0A5FA"/>
                </a:solidFill>
                <a:latin typeface="Calibri"/>
              </a:rPr>
              <a:t>FACTUAL DIFFERENTIATION</a:t>
            </a:r>
          </a:p>
          <a:p>
            <a:pPr>
              <a:spcAft>
                <a:spcPts val="1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What makes this different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0A5FA"/>
                </a:solidFill>
                <a:latin typeface="Calibri"/>
              </a:rPr>
              <a:t>Not a prompt collection — </a:t>
            </a:r>
            <a:r>
              <a:rPr sz="1200" b="0">
                <a:solidFill>
                  <a:srgbClr val="CBD5E1"/>
                </a:solidFill>
                <a:latin typeface="Calibri"/>
              </a:rPr>
              <a:t>24 interconnected skills; QA chain runs without manual triggers.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0A5FA"/>
                </a:solidFill>
                <a:latin typeface="Calibri"/>
              </a:rPr>
              <a:t>Process contract — </a:t>
            </a:r>
            <a:r>
              <a:rPr sz="1200" b="0">
                <a:solidFill>
                  <a:srgbClr val="CBD5E1"/>
                </a:solidFill>
                <a:latin typeface="Calibri"/>
              </a:rPr>
              <a:t>To-be map agreed before design; held through Phase Test.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0A5FA"/>
                </a:solidFill>
                <a:latin typeface="Calibri"/>
              </a:rPr>
              <a:t>Design before code — </a:t>
            </a:r>
            <a:r>
              <a:rPr sz="1200" b="0">
                <a:solidFill>
                  <a:srgbClr val="CBD5E1"/>
                </a:solidFill>
                <a:latin typeface="Calibri"/>
              </a:rPr>
              <a:t>HTML artifact before build; scope/data/flow surface early.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0A5FA"/>
                </a:solidFill>
                <a:latin typeface="Calibri"/>
              </a:rPr>
              <a:t>Quality with evidence — </a:t>
            </a:r>
            <a:r>
              <a:rPr sz="1200" b="0">
                <a:solidFill>
                  <a:srgbClr val="CBD5E1"/>
                </a:solidFill>
                <a:latin typeface="Calibri"/>
              </a:rPr>
              <a:t>solo-qa cross-references UI to mock data — named evidence.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60A5FA"/>
                </a:solidFill>
                <a:latin typeface="Calibri"/>
              </a:rPr>
              <a:t>Self-improving — </a:t>
            </a:r>
            <a:r>
              <a:rPr sz="1200" b="0">
                <a:solidFill>
                  <a:srgbClr val="CBD5E1"/>
                </a:solidFill>
                <a:latin typeface="Calibri"/>
              </a:rPr>
              <a:t>Retrospective captures learnings; playbook improvements queue from real use.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965960"/>
            <a:ext cx="10058400" cy="32918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Aft>
                <a:spcPts val="14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Start with one idea.
Run it </a:t>
            </a:r>
            <a:r>
              <a:rPr sz="3600" b="1">
                <a:solidFill>
                  <a:srgbClr val="2DD4BF"/>
                </a:solidFill>
                <a:latin typeface="Calibri"/>
              </a:rPr>
              <a:t>end to end.</a:t>
            </a:r>
          </a:p>
          <a:p>
            <a:pPr algn="ctr">
              <a:spcAft>
                <a:spcPts val="1800"/>
              </a:spcAft>
            </a:pPr>
            <a:r>
              <a:rPr sz="1500" b="0">
                <a:solidFill>
                  <a:srgbClr val="94A3B8"/>
                </a:solidFill>
                <a:latin typeface="Calibri"/>
              </a:rPr>
              <a:t>Open a new project. Let the framework route you — Brainstorm or Discover. Stay through Design Sprint, Build, and Phase Test.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691640" y="4892040"/>
            <a:ext cx="1874519" cy="384048"/>
          </a:xfrm>
          <a:prstGeom prst="rect">
            <a:avLst/>
          </a:prstGeom>
          <a:solidFill>
            <a:srgbClr val="222E4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919472"/>
            <a:ext cx="1874519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2DD4BF"/>
                </a:solidFill>
                <a:latin typeface="Calibri"/>
              </a:rPr>
              <a:t>24 Skills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721608" y="4892040"/>
            <a:ext cx="1874519" cy="384048"/>
          </a:xfrm>
          <a:prstGeom prst="rect">
            <a:avLst/>
          </a:prstGeom>
          <a:solidFill>
            <a:srgbClr val="222E4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21608" y="4919472"/>
            <a:ext cx="1874519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2DD4BF"/>
                </a:solidFill>
                <a:latin typeface="Calibri"/>
              </a:rPr>
              <a:t>Automatic QA 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5751576" y="4892040"/>
            <a:ext cx="1874519" cy="384048"/>
          </a:xfrm>
          <a:prstGeom prst="rect">
            <a:avLst/>
          </a:prstGeom>
          <a:solidFill>
            <a:srgbClr val="222E4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51576" y="4919472"/>
            <a:ext cx="1874519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2DD4BF"/>
                </a:solidFill>
                <a:latin typeface="Calibri"/>
              </a:rPr>
              <a:t>Process-First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81544" y="4892040"/>
            <a:ext cx="1874519" cy="384048"/>
          </a:xfrm>
          <a:prstGeom prst="rect">
            <a:avLst/>
          </a:prstGeom>
          <a:solidFill>
            <a:srgbClr val="222E4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81544" y="4919472"/>
            <a:ext cx="1874519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600"/>
              </a:spcAft>
            </a:pPr>
            <a:r>
              <a:rPr sz="1000" b="1">
                <a:solidFill>
                  <a:srgbClr val="2DD4BF"/>
                </a:solidFill>
                <a:latin typeface="Calibri"/>
              </a:rPr>
              <a:t>Claude Code + Cursor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